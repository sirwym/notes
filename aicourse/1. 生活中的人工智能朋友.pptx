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3.png"/><Relationship Id="rId5" Type="http://schemas.openxmlformats.org/officeDocument/2006/relationships/image" Target="../media/image-11-3.png"/><Relationship Id="rId6" Type="http://schemas.openxmlformats.org/officeDocument/2006/relationships/image" Target="../media/image-11-6.png"/><Relationship Id="rId7" Type="http://schemas.openxmlformats.org/officeDocument/2006/relationships/image" Target="../media/image-1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81C7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nineclaw-pptx-build/slides/circl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53901"/>
            <a:ext cx="1143000" cy="1143000"/>
          </a:xfrm>
          <a:prstGeom prst="rect">
            <a:avLst/>
          </a:prstGeom>
        </p:spPr>
      </p:pic>
      <p:pic>
        <p:nvPicPr>
          <p:cNvPr id="5" name="Image 1" descr="/tmp/nineclaw-pptx-build/slides/circle-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1" y="3873550"/>
            <a:ext cx="888950" cy="888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92945" y="1606600"/>
            <a:ext cx="5357961" cy="1930152"/>
          </a:xfrm>
          <a:prstGeom prst="roundRect">
            <a:avLst>
              <a:gd name="adj" fmla="val 13160"/>
            </a:avLst>
          </a:prstGeom>
          <a:solidFill>
            <a:srgbClr val="FFFFFF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2486964" y="1962150"/>
            <a:ext cx="41699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生活中的人工智能朋友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2486964" y="2635151"/>
            <a:ext cx="41699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第一课 · 走近我们身边的 AI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486964" y="2971651"/>
            <a:ext cx="41699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AI启蒙课堂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5325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72981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猜猜它是谁？</a:t>
            </a:r>
            <a:endParaRPr lang="en-US" sz="2200" dirty="0"/>
          </a:p>
        </p:txBody>
      </p:sp>
      <p:pic>
        <p:nvPicPr>
          <p:cNvPr id="4" name="Image 0" descr="/tmp/nineclaw-pptx-build/slides/icon-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1234380"/>
            <a:ext cx="571500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53295" y="1932831"/>
            <a:ext cx="4037261" cy="1950839"/>
          </a:xfrm>
          <a:prstGeom prst="roundRect">
            <a:avLst>
              <a:gd name="adj" fmla="val 9114"/>
            </a:avLst>
          </a:prstGeom>
          <a:solidFill>
            <a:srgbClr val="FFFFFF"/>
          </a:solidFill>
          <a:ln w="38100">
            <a:solidFill>
              <a:srgbClr val="FFB7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005074" y="2224832"/>
            <a:ext cx="31337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它没有手也没有脚，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05074" y="2585591"/>
            <a:ext cx="31337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却住在我们的手机、电视和音箱里。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005074" y="2946350"/>
            <a:ext cx="31337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它看不见你，却听得懂你说的话；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05074" y="3307110"/>
            <a:ext cx="313370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它不在你身边，却好像一直陪着你……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082403" y="4036070"/>
            <a:ext cx="1529209" cy="377726"/>
          </a:xfrm>
          <a:prstGeom prst="roundRect">
            <a:avLst>
              <a:gd name="adj" fmla="val 26898"/>
            </a:avLst>
          </a:prstGeom>
          <a:solidFill>
            <a:srgbClr val="E1F5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60104" y="4124920"/>
            <a:ext cx="11972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线索1：它会"思考"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764012" y="4036070"/>
            <a:ext cx="1714946" cy="377726"/>
          </a:xfrm>
          <a:prstGeom prst="roundRect">
            <a:avLst>
              <a:gd name="adj" fmla="val 26898"/>
            </a:avLst>
          </a:prstGeom>
          <a:solidFill>
            <a:srgbClr val="E1F5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41713" y="4124920"/>
            <a:ext cx="13867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线索2：在智能设备里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31359" y="4036070"/>
            <a:ext cx="1430089" cy="377726"/>
          </a:xfrm>
          <a:prstGeom prst="roundRect">
            <a:avLst>
              <a:gd name="adj" fmla="val 26898"/>
            </a:avLst>
          </a:prstGeom>
          <a:solidFill>
            <a:srgbClr val="E1F5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809059" y="4124920"/>
            <a:ext cx="10961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线索3：它能学习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5325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15326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揭晓答案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108002" y="1065312"/>
            <a:ext cx="4927848" cy="3708053"/>
          </a:xfrm>
          <a:prstGeom prst="roundRect">
            <a:avLst>
              <a:gd name="adj" fmla="val 6850"/>
            </a:avLst>
          </a:prstGeom>
          <a:solidFill>
            <a:srgbClr val="FFFFFF"/>
          </a:solidFill>
          <a:ln w="38100">
            <a:solidFill>
              <a:srgbClr val="CE93D8"/>
            </a:solidFill>
          </a:ln>
          <a:effectLst>
            <a:outerShdw sx="100000" sy="100000" kx="0" ky="0" algn="bl" rotWithShape="0" blurRad="142875" dist="4041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nineclaw-pptx-build/slides/icon-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401" y="1484412"/>
            <a:ext cx="634901" cy="634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5184" y="2284363"/>
            <a:ext cx="36534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—— 人工智能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745184" y="2944713"/>
            <a:ext cx="36534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它就是我们身边看不见的"聪明朋友"！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781002" y="3503414"/>
            <a:ext cx="3581846" cy="850850"/>
          </a:xfrm>
          <a:prstGeom prst="roundRect">
            <a:avLst>
              <a:gd name="adj" fmla="val 17912"/>
            </a:avLst>
          </a:prstGeom>
          <a:solidFill>
            <a:srgbClr val="E1F5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133804" y="3655814"/>
            <a:ext cx="28762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是"Artificial Intelligence"的缩写，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33804" y="3954214"/>
            <a:ext cx="28762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意思是让机器变得像人一样聪明。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6429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朋友大盘点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118717" y="228600"/>
            <a:ext cx="3277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84846" y="1678037"/>
            <a:ext cx="1727150" cy="1727150"/>
          </a:xfrm>
          <a:prstGeom prst="roundRect">
            <a:avLst>
              <a:gd name="adj" fmla="val 5294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nineclaw-pptx-build/slides/icon-spea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46" y="1906637"/>
            <a:ext cx="1269950" cy="1269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5193" y="3557588"/>
            <a:ext cx="944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智能音箱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9820" y="3922663"/>
            <a:ext cx="16903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小爱同学 / 小度 / 天猫精灵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69891" y="1480096"/>
            <a:ext cx="44163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超能力：会听话、会说话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369891" y="1937296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393704" y="1937296"/>
            <a:ext cx="0" cy="412552"/>
          </a:xfrm>
          <a:prstGeom prst="line">
            <a:avLst/>
          </a:prstGeom>
          <a:noFill/>
          <a:ln w="47625">
            <a:solidFill>
              <a:srgbClr val="FFB7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5217" y="2038796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你叫它的名字，它就会回答你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69891" y="2451348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393704" y="2451348"/>
            <a:ext cx="0" cy="412552"/>
          </a:xfrm>
          <a:prstGeom prst="line">
            <a:avLst/>
          </a:prstGeom>
          <a:noFill/>
          <a:ln w="47625">
            <a:solidFill>
              <a:srgbClr val="FFB7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5217" y="2552849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能讲故事、放音乐、报天气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69891" y="2965400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393704" y="2965400"/>
            <a:ext cx="0" cy="412552"/>
          </a:xfrm>
          <a:prstGeom prst="line">
            <a:avLst/>
          </a:prstGeom>
          <a:noFill/>
          <a:ln w="47625">
            <a:solidFill>
              <a:srgbClr val="FFB7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5217" y="3066901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帮你设定闹钟和提醒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69891" y="3479453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393704" y="3479453"/>
            <a:ext cx="0" cy="412552"/>
          </a:xfrm>
          <a:prstGeom prst="line">
            <a:avLst/>
          </a:prstGeom>
          <a:noFill/>
          <a:ln w="47625">
            <a:solidFill>
              <a:srgbClr val="FFB7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95217" y="3580954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甚至能跟你聊天、讲笑话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369891" y="4120455"/>
            <a:ext cx="44163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100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它就像一个住在音箱里的小助手！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81C7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6429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朋友大盘点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118717" y="228600"/>
            <a:ext cx="3277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84846" y="1678037"/>
            <a:ext cx="1727150" cy="1727150"/>
          </a:xfrm>
          <a:prstGeom prst="roundRect">
            <a:avLst>
              <a:gd name="adj" fmla="val 5294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nineclaw-pptx-build/slides/icon-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46" y="1906637"/>
            <a:ext cx="1269950" cy="1269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9405" y="3557588"/>
            <a:ext cx="11810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扫地机器人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49772" y="3922663"/>
            <a:ext cx="10170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你家的小清洁工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69891" y="1480096"/>
            <a:ext cx="44163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超能力：会认路、会打扫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369891" y="1937296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393704" y="1937296"/>
            <a:ext cx="0" cy="412552"/>
          </a:xfrm>
          <a:prstGeom prst="line">
            <a:avLst/>
          </a:prstGeom>
          <a:noFill/>
          <a:ln w="47625">
            <a:solidFill>
              <a:srgbClr val="81C7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5217" y="2038796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自己认识家里的每个房间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69891" y="2451348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393704" y="2451348"/>
            <a:ext cx="0" cy="412552"/>
          </a:xfrm>
          <a:prstGeom prst="line">
            <a:avLst/>
          </a:prstGeom>
          <a:noFill/>
          <a:ln w="47625">
            <a:solidFill>
              <a:srgbClr val="81C7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5217" y="2552849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能躲开桌椅和障碍物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69891" y="2965400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393704" y="2965400"/>
            <a:ext cx="0" cy="412552"/>
          </a:xfrm>
          <a:prstGeom prst="line">
            <a:avLst/>
          </a:prstGeom>
          <a:noFill/>
          <a:ln w="47625">
            <a:solidFill>
              <a:srgbClr val="81C7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5217" y="3066901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扫完地还会自己回去充电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69891" y="3479453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393704" y="3479453"/>
            <a:ext cx="0" cy="412552"/>
          </a:xfrm>
          <a:prstGeom prst="line">
            <a:avLst/>
          </a:prstGeom>
          <a:noFill/>
          <a:ln w="47625">
            <a:solidFill>
              <a:srgbClr val="81C78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95217" y="3580954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打扫得比你想象中还干净！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369891" y="4120455"/>
            <a:ext cx="44163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100" i="1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它像一只勤劳的小乌龟，每天帮你打扫家！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F48FB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6429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朋友大盘点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118717" y="228600"/>
            <a:ext cx="3277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84846" y="1678037"/>
            <a:ext cx="1727150" cy="1727150"/>
          </a:xfrm>
          <a:prstGeom prst="roundRect">
            <a:avLst>
              <a:gd name="adj" fmla="val 52943"/>
            </a:avLst>
          </a:prstGeom>
          <a:solidFill>
            <a:srgbClr val="FCE4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nineclaw-pptx-build/slides/icon-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46" y="1906637"/>
            <a:ext cx="1269950" cy="1269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9405" y="3557588"/>
            <a:ext cx="11810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短视频推荐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29383" y="3922663"/>
            <a:ext cx="10588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 / 快手 / B站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69891" y="1480096"/>
            <a:ext cx="44163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超能力：懂你喜好、会推荐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369891" y="1937296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393704" y="1937296"/>
            <a:ext cx="0" cy="412552"/>
          </a:xfrm>
          <a:prstGeom prst="line">
            <a:avLst/>
          </a:prstGeom>
          <a:noFill/>
          <a:ln w="47625">
            <a:solidFill>
              <a:srgbClr val="F48F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5217" y="2038796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知道你喜欢看什么类型的视频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69891" y="2451348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393704" y="2451348"/>
            <a:ext cx="0" cy="412552"/>
          </a:xfrm>
          <a:prstGeom prst="line">
            <a:avLst/>
          </a:prstGeom>
          <a:noFill/>
          <a:ln w="47625">
            <a:solidFill>
              <a:srgbClr val="F48F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5217" y="2552849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你看得越多，它推荐得越准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69891" y="2965400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393704" y="2965400"/>
            <a:ext cx="0" cy="412552"/>
          </a:xfrm>
          <a:prstGeom prst="line">
            <a:avLst/>
          </a:prstGeom>
          <a:noFill/>
          <a:ln w="47625">
            <a:solidFill>
              <a:srgbClr val="F48F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5217" y="3066901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它一直在"学习"你的喜好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69891" y="3479453"/>
            <a:ext cx="4329708" cy="412552"/>
          </a:xfrm>
          <a:prstGeom prst="roundRect">
            <a:avLst>
              <a:gd name="adj" fmla="val 2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393704" y="3479453"/>
            <a:ext cx="0" cy="412552"/>
          </a:xfrm>
          <a:prstGeom prst="line">
            <a:avLst/>
          </a:prstGeom>
          <a:noFill/>
          <a:ln w="47625">
            <a:solidFill>
              <a:srgbClr val="F48FB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95217" y="3580954"/>
            <a:ext cx="40052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每个人看到的推荐都不一样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369891" y="4120455"/>
            <a:ext cx="44163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100" i="1" dirty="0">
                <a:solidFill>
                  <a:srgbClr val="F48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它像一个超级了解你的好朋友！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CE93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22397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还有哪些 AI 朋友？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00498" y="847725"/>
            <a:ext cx="2895302" cy="1196876"/>
          </a:xfrm>
          <a:prstGeom prst="roundRect">
            <a:avLst>
              <a:gd name="adj" fmla="val 12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600498" y="871538"/>
            <a:ext cx="2895302" cy="0"/>
          </a:xfrm>
          <a:prstGeom prst="line">
            <a:avLst/>
          </a:prstGeom>
          <a:noFill/>
          <a:ln w="47625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16990" y="1047750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04920" y="1431875"/>
            <a:ext cx="686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智能导航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53682" y="1711226"/>
            <a:ext cx="11889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帮你规划最快的路线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48200" y="847725"/>
            <a:ext cx="2895302" cy="1196876"/>
          </a:xfrm>
          <a:prstGeom prst="roundRect">
            <a:avLst>
              <a:gd name="adj" fmla="val 12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48200" y="871538"/>
            <a:ext cx="2895302" cy="0"/>
          </a:xfrm>
          <a:prstGeom prst="line">
            <a:avLst/>
          </a:prstGeom>
          <a:noFill/>
          <a:ln w="47625">
            <a:solidFill>
              <a:srgbClr val="FFB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4692" y="1047750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52622" y="1431875"/>
            <a:ext cx="686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人脸解锁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01384" y="1711226"/>
            <a:ext cx="11889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看一眼就能解锁手机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498" y="2197001"/>
            <a:ext cx="2895302" cy="1196876"/>
          </a:xfrm>
          <a:prstGeom prst="roundRect">
            <a:avLst>
              <a:gd name="adj" fmla="val 12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600498" y="2220813"/>
            <a:ext cx="2895302" cy="0"/>
          </a:xfrm>
          <a:prstGeom prst="line">
            <a:avLst/>
          </a:prstGeom>
          <a:noFill/>
          <a:ln w="47625">
            <a:solidFill>
              <a:srgbClr val="81C7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90" y="2397026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04920" y="2781151"/>
            <a:ext cx="686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智能翻译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9717" y="3060502"/>
            <a:ext cx="1056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帮你翻译各国语言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48200" y="2197001"/>
            <a:ext cx="2895302" cy="1196876"/>
          </a:xfrm>
          <a:prstGeom prst="roundRect">
            <a:avLst>
              <a:gd name="adj" fmla="val 12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48200" y="2220813"/>
            <a:ext cx="2895302" cy="0"/>
          </a:xfrm>
          <a:prstGeom prst="line">
            <a:avLst/>
          </a:prstGeom>
          <a:noFill/>
          <a:ln w="47625">
            <a:solidFill>
              <a:srgbClr val="F48F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4692" y="2397026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52622" y="2781151"/>
            <a:ext cx="686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美颜相机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67419" y="3060502"/>
            <a:ext cx="1056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自动美化你的照片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498" y="3546277"/>
            <a:ext cx="2895302" cy="1196876"/>
          </a:xfrm>
          <a:prstGeom prst="roundRect">
            <a:avLst>
              <a:gd name="adj" fmla="val 12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600498" y="3570089"/>
            <a:ext cx="2895302" cy="0"/>
          </a:xfrm>
          <a:prstGeom prst="line">
            <a:avLst/>
          </a:prstGeom>
          <a:noFill/>
          <a:ln w="47625">
            <a:solidFill>
              <a:srgbClr val="CE93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16990" y="3746302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704920" y="4130427"/>
            <a:ext cx="686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智能辅导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53682" y="4409777"/>
            <a:ext cx="11889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像老师一样教你做题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48200" y="3546277"/>
            <a:ext cx="2895302" cy="1196876"/>
          </a:xfrm>
          <a:prstGeom prst="roundRect">
            <a:avLst>
              <a:gd name="adj" fmla="val 12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48200" y="3570089"/>
            <a:ext cx="2895302" cy="0"/>
          </a:xfrm>
          <a:prstGeom prst="line">
            <a:avLst/>
          </a:prstGeom>
          <a:noFill/>
          <a:ln w="47625">
            <a:solidFill>
              <a:srgbClr val="29B6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64692" y="3746302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752622" y="4130427"/>
            <a:ext cx="686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智能家居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1384" y="4409777"/>
            <a:ext cx="11889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远程控制家里的电器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29213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是怎么"看"和"听"的？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1849" y="911126"/>
            <a:ext cx="8420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就像人一样，有"眼睛"、"耳朵"和"嘴巴"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4401" y="1349127"/>
            <a:ext cx="2582466" cy="2180927"/>
          </a:xfrm>
          <a:prstGeom prst="roundRect">
            <a:avLst>
              <a:gd name="adj" fmla="val 81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44401" y="3506242"/>
            <a:ext cx="2582466" cy="0"/>
          </a:xfrm>
          <a:prstGeom prst="line">
            <a:avLst/>
          </a:prstGeom>
          <a:noFill/>
          <a:ln w="47625">
            <a:solidFill>
              <a:srgbClr val="FFB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1233" y="1539627"/>
            <a:ext cx="888802" cy="926902"/>
          </a:xfrm>
          <a:prstGeom prst="roundRect">
            <a:avLst>
              <a:gd name="adj" fmla="val 10288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tmp/nineclaw-pptx-build/slides/icon-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183" y="1666577"/>
            <a:ext cx="634901" cy="6349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65" y="2568029"/>
            <a:ext cx="11303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眼睛 = 摄像头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886" y="2891879"/>
            <a:ext cx="22454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用摄像头"看"世界，能认出人脸、识别物体、读懂文字。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80767" y="1349127"/>
            <a:ext cx="2582466" cy="2180927"/>
          </a:xfrm>
          <a:prstGeom prst="roundRect">
            <a:avLst>
              <a:gd name="adj" fmla="val 81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80767" y="3506242"/>
            <a:ext cx="2582466" cy="0"/>
          </a:xfrm>
          <a:prstGeom prst="line">
            <a:avLst/>
          </a:prstGeom>
          <a:noFill/>
          <a:ln w="47625">
            <a:solidFill>
              <a:srgbClr val="4FC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27599" y="1539627"/>
            <a:ext cx="888802" cy="926902"/>
          </a:xfrm>
          <a:prstGeom prst="roundRect">
            <a:avLst>
              <a:gd name="adj" fmla="val 102880"/>
            </a:avLst>
          </a:prstGeom>
          <a:solidFill>
            <a:srgbClr val="E1F5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/tmp/nineclaw-pptx-build/slides/icon-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50" y="1666577"/>
            <a:ext cx="634901" cy="6349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06831" y="2568029"/>
            <a:ext cx="11303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耳朵 = 麦克风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49253" y="2891879"/>
            <a:ext cx="22454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用麦克风"听"声音，能把你说的话转换成它能理解的信息。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117134" y="1349127"/>
            <a:ext cx="2582466" cy="2180927"/>
          </a:xfrm>
          <a:prstGeom prst="roundRect">
            <a:avLst>
              <a:gd name="adj" fmla="val 81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6117134" y="3506242"/>
            <a:ext cx="2582466" cy="0"/>
          </a:xfrm>
          <a:prstGeom prst="line">
            <a:avLst/>
          </a:prstGeom>
          <a:noFill/>
          <a:ln w="47625">
            <a:solidFill>
              <a:srgbClr val="81C78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63966" y="1539627"/>
            <a:ext cx="888802" cy="926902"/>
          </a:xfrm>
          <a:prstGeom prst="roundRect">
            <a:avLst>
              <a:gd name="adj" fmla="val 10288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/tmp/nineclaw-pptx-build/slides/icon-spea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916" y="1666577"/>
            <a:ext cx="634901" cy="63490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43198" y="2568029"/>
            <a:ext cx="11303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嘴巴 = 扬声器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85619" y="2891879"/>
            <a:ext cx="22454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用扬声器"说话"，把思考的结果变成声音告诉你。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44401" y="3758505"/>
            <a:ext cx="8255198" cy="412552"/>
          </a:xfrm>
          <a:prstGeom prst="roundRect">
            <a:avLst>
              <a:gd name="adj" fmla="val 24627"/>
            </a:avLst>
          </a:prstGeom>
          <a:solidFill>
            <a:srgbClr val="FFB74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65380" y="3860006"/>
            <a:ext cx="82132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这些就是 AI 的 </a:t>
            </a:r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"感知器官"</a:t>
            </a:r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，帮助它感知外面的世界！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32004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的"大脑"是怎么工作的？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5995" y="1603474"/>
            <a:ext cx="1904702" cy="1904702"/>
          </a:xfrm>
          <a:prstGeom prst="roundRect">
            <a:avLst>
              <a:gd name="adj" fmla="val 48008"/>
            </a:avLst>
          </a:prstGeom>
          <a:solidFill>
            <a:srgbClr val="E1F5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nineclaw-pptx-build/slides/icon-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896" y="1857375"/>
            <a:ext cx="1396901" cy="1396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20155" y="3660577"/>
            <a:ext cx="1077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芯片 + 算法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93094" y="3997077"/>
            <a:ext cx="7248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AI 的大脑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69891" y="1276945"/>
            <a:ext cx="4329708" cy="584002"/>
          </a:xfrm>
          <a:prstGeom prst="roundRect">
            <a:avLst>
              <a:gd name="adj" fmla="val 217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3042" y="1403896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688532" y="1464171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55543" y="1454646"/>
            <a:ext cx="2641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收集信息：</a:t>
            </a:r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用"眼睛""耳朵"获取数据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9891" y="1987897"/>
            <a:ext cx="4329708" cy="584002"/>
          </a:xfrm>
          <a:prstGeom prst="roundRect">
            <a:avLst>
              <a:gd name="adj" fmla="val 217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573042" y="211484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88532" y="217512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55543" y="2165598"/>
            <a:ext cx="2573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学习规律：</a:t>
            </a:r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从大量例子中找到模式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69891" y="2698849"/>
            <a:ext cx="4329708" cy="584002"/>
          </a:xfrm>
          <a:prstGeom prst="roundRect">
            <a:avLst>
              <a:gd name="adj" fmla="val 217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573042" y="282580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688532" y="288607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55543" y="2876550"/>
            <a:ext cx="2573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思考判断：</a:t>
            </a:r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根据学到的规律做决定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69891" y="3409801"/>
            <a:ext cx="4329708" cy="584002"/>
          </a:xfrm>
          <a:prstGeom prst="roundRect">
            <a:avLst>
              <a:gd name="adj" fmla="val 217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573042" y="353675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688532" y="359702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55543" y="3587502"/>
            <a:ext cx="25736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越来越聪明：</a:t>
            </a:r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用得越多，学得越好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69891" y="4120753"/>
            <a:ext cx="4329708" cy="403027"/>
          </a:xfrm>
          <a:prstGeom prst="roundRect">
            <a:avLst>
              <a:gd name="adj" fmla="val 25209"/>
            </a:avLst>
          </a:prstGeom>
          <a:solidFill>
            <a:srgbClr val="E1F5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547592" y="4222254"/>
            <a:ext cx="4053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就像你做数学题一样，做得越多，越熟练！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293802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朋友有哪些"超能力"？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4401" y="885825"/>
            <a:ext cx="2633216" cy="1787128"/>
          </a:xfrm>
          <a:prstGeom prst="roundRect">
            <a:avLst>
              <a:gd name="adj" fmla="val 8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0060" y="1063526"/>
            <a:ext cx="281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9143" y="1476226"/>
            <a:ext cx="9237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能看懂图片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6291" y="1774627"/>
            <a:ext cx="18494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识别照片中的人脸、物体和文字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4397" y="1980902"/>
            <a:ext cx="14530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比如人脸解锁、扫描翻译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5023" y="2238077"/>
            <a:ext cx="771971" cy="257175"/>
          </a:xfrm>
          <a:prstGeom prst="roundRect">
            <a:avLst>
              <a:gd name="adj" fmla="val 98766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96793" y="2276177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图像识别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55318" y="885825"/>
            <a:ext cx="2633365" cy="1787128"/>
          </a:xfrm>
          <a:prstGeom prst="roundRect">
            <a:avLst>
              <a:gd name="adj" fmla="val 8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1125" y="1063526"/>
            <a:ext cx="281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02507" y="1476226"/>
            <a:ext cx="7389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能听懂话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13242" y="1774627"/>
            <a:ext cx="17173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把语音转换成文字并理解意思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5463" y="1980902"/>
            <a:ext cx="14530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比如语音助手、实时翻译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85940" y="2238077"/>
            <a:ext cx="771971" cy="257175"/>
          </a:xfrm>
          <a:prstGeom prst="roundRect">
            <a:avLst>
              <a:gd name="adj" fmla="val 98766"/>
            </a:avLst>
          </a:prstGeom>
          <a:solidFill>
            <a:srgbClr val="81C7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07710" y="2276177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66383" y="885825"/>
            <a:ext cx="2633216" cy="1787128"/>
          </a:xfrm>
          <a:prstGeom prst="roundRect">
            <a:avLst>
              <a:gd name="adj" fmla="val 8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242042" y="1063526"/>
            <a:ext cx="281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21125" y="1476226"/>
            <a:ext cx="9237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能与人对话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24308" y="1774627"/>
            <a:ext cx="17173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理解你说的话并做出合理回答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90343" y="1980902"/>
            <a:ext cx="1585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比如智能客服、聊天机器人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97005" y="2238077"/>
            <a:ext cx="771971" cy="257175"/>
          </a:xfrm>
          <a:prstGeom prst="roundRect">
            <a:avLst>
              <a:gd name="adj" fmla="val 98766"/>
            </a:avLst>
          </a:prstGeom>
          <a:solidFill>
            <a:srgbClr val="F48FB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18775" y="2276177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4401" y="2825353"/>
            <a:ext cx="2633216" cy="1580852"/>
          </a:xfrm>
          <a:prstGeom prst="roundRect">
            <a:avLst>
              <a:gd name="adj" fmla="val 96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20060" y="3003054"/>
            <a:ext cx="281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99143" y="3415754"/>
            <a:ext cx="9237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能学习进步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291" y="3714155"/>
            <a:ext cx="18494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从数据中不断学习，越用越聪明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5023" y="3971330"/>
            <a:ext cx="771971" cy="257175"/>
          </a:xfrm>
          <a:prstGeom prst="roundRect">
            <a:avLst>
              <a:gd name="adj" fmla="val 98766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496793" y="4009430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机器学习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55318" y="2825353"/>
            <a:ext cx="2633365" cy="1580852"/>
          </a:xfrm>
          <a:prstGeom prst="roundRect">
            <a:avLst>
              <a:gd name="adj" fmla="val 96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431125" y="3003054"/>
            <a:ext cx="281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202507" y="3415754"/>
            <a:ext cx="7389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能做判断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13242" y="3714155"/>
            <a:ext cx="17173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根据学到的知识做出准确判断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85940" y="3971330"/>
            <a:ext cx="771971" cy="257175"/>
          </a:xfrm>
          <a:prstGeom prst="roundRect">
            <a:avLst>
              <a:gd name="adj" fmla="val 98766"/>
            </a:avLst>
          </a:prstGeom>
          <a:solidFill>
            <a:srgbClr val="CE93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307710" y="4009430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智能决策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66383" y="2825353"/>
            <a:ext cx="2633216" cy="1580852"/>
          </a:xfrm>
          <a:prstGeom prst="roundRect">
            <a:avLst>
              <a:gd name="adj" fmla="val 96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42042" y="3003054"/>
            <a:ext cx="281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921125" y="3415754"/>
            <a:ext cx="9237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能自己行动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26203" y="3714155"/>
            <a:ext cx="21135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不需要人一直操控，能自主完成任务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97005" y="3971330"/>
            <a:ext cx="771971" cy="257175"/>
          </a:xfrm>
          <a:prstGeom prst="roundRect">
            <a:avLst>
              <a:gd name="adj" fmla="val 98766"/>
            </a:avLst>
          </a:prstGeom>
          <a:solidFill>
            <a:srgbClr val="29B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18775" y="4009430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自主控制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1C7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nineclaw-pptx-build/slides/icon-detec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381000" cy="38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6688"/>
            <a:ext cx="309211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大侦探找 AI —— 互动游戏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81000" y="876300"/>
            <a:ext cx="452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这是小明的客厅，请找出哪些物品里藏着"AI 朋友"？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1000" y="1231850"/>
            <a:ext cx="4433441" cy="3721150"/>
          </a:xfrm>
          <a:prstGeom prst="roundRect">
            <a:avLst>
              <a:gd name="adj" fmla="val 4778"/>
            </a:avLst>
          </a:prstGeom>
          <a:solidFill>
            <a:srgbClr val="FFF8E1"/>
          </a:solidFill>
          <a:ln w="19050">
            <a:solidFill>
              <a:srgbClr val="FFB7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89269" y="1479500"/>
            <a:ext cx="40169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客厅物品清单：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8650" y="1790551"/>
            <a:ext cx="3938141" cy="460177"/>
          </a:xfrm>
          <a:prstGeom prst="roundRect">
            <a:avLst>
              <a:gd name="adj" fmla="val 220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06351" y="1892052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33326" y="1906339"/>
            <a:ext cx="686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普通台灯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8650" y="2352229"/>
            <a:ext cx="3938141" cy="460177"/>
          </a:xfrm>
          <a:prstGeom prst="roundRect">
            <a:avLst>
              <a:gd name="adj" fmla="val 220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06351" y="2453729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🧊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3326" y="2468017"/>
            <a:ext cx="2230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智能冰箱（能提醒食材过期）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8650" y="2913906"/>
            <a:ext cx="3938141" cy="460177"/>
          </a:xfrm>
          <a:prstGeom prst="roundRect">
            <a:avLst>
              <a:gd name="adj" fmla="val 220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6351" y="3015407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33326" y="3029694"/>
            <a:ext cx="686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机械闹钟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8650" y="3475583"/>
            <a:ext cx="3938141" cy="460177"/>
          </a:xfrm>
          <a:prstGeom prst="roundRect">
            <a:avLst>
              <a:gd name="adj" fmla="val 220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06351" y="3577084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33326" y="3591371"/>
            <a:ext cx="686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智能音箱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8650" y="4037261"/>
            <a:ext cx="3938141" cy="460177"/>
          </a:xfrm>
          <a:prstGeom prst="roundRect">
            <a:avLst>
              <a:gd name="adj" fmla="val 220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06351" y="4138761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33326" y="4153049"/>
            <a:ext cx="20589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平板电脑（人脸识别解锁）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3059" y="1600349"/>
            <a:ext cx="2505075" cy="2628602"/>
          </a:xfrm>
          <a:prstGeom prst="roundRect">
            <a:avLst>
              <a:gd name="adj" fmla="val 7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871180" y="1828949"/>
            <a:ext cx="20888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答案揭晓</a:t>
            </a:r>
            <a:endParaRPr lang="en-US" sz="1500" dirty="0"/>
          </a:p>
        </p:txBody>
      </p:sp>
      <p:pic>
        <p:nvPicPr>
          <p:cNvPr id="25" name="Image 1" descr="/tmp/nineclaw-pptx-build/slides/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659" y="2222599"/>
            <a:ext cx="279350" cy="27935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272510" y="2257425"/>
            <a:ext cx="17003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智能冰箱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 管理食材</a:t>
            </a:r>
            <a:endParaRPr lang="en-US" sz="1200" dirty="0"/>
          </a:p>
        </p:txBody>
      </p:sp>
      <p:pic>
        <p:nvPicPr>
          <p:cNvPr id="27" name="Image 2" descr="/tmp/nineclaw-pptx-build/slides/icon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659" y="2578150"/>
            <a:ext cx="279350" cy="27935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72510" y="2612975"/>
            <a:ext cx="17003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智能音箱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 语音助手</a:t>
            </a:r>
            <a:endParaRPr lang="en-US" sz="1200" dirty="0"/>
          </a:p>
        </p:txBody>
      </p:sp>
      <p:pic>
        <p:nvPicPr>
          <p:cNvPr id="29" name="Image 3" descr="/tmp/nineclaw-pptx-build/slides/ico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659" y="2933700"/>
            <a:ext cx="279350" cy="2793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72510" y="2968526"/>
            <a:ext cx="17003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平板电脑</a:t>
            </a:r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 人脸识别</a:t>
            </a:r>
            <a:endParaRPr lang="en-US" sz="1200" dirty="0"/>
          </a:p>
        </p:txBody>
      </p:sp>
      <p:pic>
        <p:nvPicPr>
          <p:cNvPr id="31" name="Image 4" descr="/tmp/nineclaw-pptx-build/slides/icon-cro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1659" y="3289250"/>
            <a:ext cx="279350" cy="2793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272510" y="3324076"/>
            <a:ext cx="1383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普通台灯 — 没有 AI</a:t>
            </a:r>
            <a:endParaRPr lang="en-US" sz="1200" dirty="0"/>
          </a:p>
        </p:txBody>
      </p:sp>
      <p:pic>
        <p:nvPicPr>
          <p:cNvPr id="33" name="Image 5" descr="/tmp/nineclaw-pptx-build/slides/icon-cros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1659" y="3644801"/>
            <a:ext cx="279350" cy="2793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72510" y="3679627"/>
            <a:ext cx="1383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机械闹钟 — 没有 AI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4957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课堂总结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4401" y="1446609"/>
            <a:ext cx="8255198" cy="2171105"/>
          </a:xfrm>
          <a:prstGeom prst="roundRect">
            <a:avLst>
              <a:gd name="adj" fmla="val 8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nineclaw-pptx-build/slides/icon-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51" y="2227362"/>
            <a:ext cx="571500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87252" y="1675209"/>
            <a:ext cx="69307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今天我们学到了什么？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87252" y="207838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790254" y="2024360"/>
            <a:ext cx="31595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AI（人工智能）是一种让机器变得聪明的方法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87252" y="235133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790254" y="2297311"/>
            <a:ext cx="44588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朋友就在我们身边——智能音箱、扫地机器人、推荐系统……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587252" y="262428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81C7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90254" y="2570262"/>
            <a:ext cx="41681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有"眼睛"（摄像头）、"耳朵"（麦克风）、"大脑"（芯片）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87252" y="289723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48FB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790254" y="2843213"/>
            <a:ext cx="22514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通过大量学习变得越来越聪明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87252" y="317018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E93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790254" y="3116163"/>
            <a:ext cx="3202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能看、能听、能说、能学、能判断、能行动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75805" y="3871615"/>
            <a:ext cx="5792391" cy="482501"/>
          </a:xfrm>
          <a:prstGeom prst="roundRect">
            <a:avLst>
              <a:gd name="adj" fmla="val 26321"/>
            </a:avLst>
          </a:prstGeom>
          <a:solidFill>
            <a:srgbClr val="4FC3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876860" y="3998565"/>
            <a:ext cx="5390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是我们生活中的好帮手，但最重要的是——</a:t>
            </a:r>
            <a:pPr algn="ctr" indent="0" marL="0">
              <a:buNone/>
            </a:pPr>
            <a:r>
              <a:rPr lang="en-US" sz="1300" b="1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善用 AI，让它为你服务！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nineclaw-pptx-build/slides/icon-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00" y="557957"/>
            <a:ext cx="698450" cy="698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07729" y="1383357"/>
            <a:ext cx="4528542" cy="2725787"/>
          </a:xfrm>
          <a:prstGeom prst="roundRect">
            <a:avLst>
              <a:gd name="adj" fmla="val 9318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42875" dist="4041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780553" y="1700808"/>
            <a:ext cx="35828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课后思考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815679" y="2281833"/>
            <a:ext cx="3512641" cy="1147911"/>
          </a:xfrm>
          <a:prstGeom prst="roundRect">
            <a:avLst>
              <a:gd name="adj" fmla="val 13276"/>
            </a:avLst>
          </a:prstGeom>
          <a:solidFill>
            <a:srgbClr val="E1F5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091449" y="2434233"/>
            <a:ext cx="296110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你希望未来能发明一个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91449" y="2835473"/>
            <a:ext cx="296110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什么样的 AI 朋友帮你做事？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80553" y="3582144"/>
            <a:ext cx="35828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发挥你的想象力，下节课和大家分享吧！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71075" y="4337745"/>
            <a:ext cx="24017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感谢聆听，我们下节课再见！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生活中的人工智能朋友</dc:title>
  <dc:subject>PptxGenJS Presentation</dc:subject>
  <dc:creator>NineClaw</dc:creator>
  <cp:lastModifiedBy>NineClaw</cp:lastModifiedBy>
  <cp:revision>1</cp:revision>
  <dcterms:created xsi:type="dcterms:W3CDTF">2026-05-12T05:04:54Z</dcterms:created>
  <dcterms:modified xsi:type="dcterms:W3CDTF">2026-05-12T05:04:54Z</dcterms:modified>
</cp:coreProperties>
</file>